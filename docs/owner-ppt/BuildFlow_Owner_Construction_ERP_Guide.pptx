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uild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40280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BuildFlow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F59E0B"/>
                </a:solidFill>
                <a:latin typeface="Calibri"/>
              </a:rPr>
              <a:t>Construction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Android  ·  iOS  · 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Owner Quick-Start Guide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CBD5E1"/>
                </a:solidFill>
                <a:latin typeface="Calibri"/>
              </a:rPr>
              <a:t>One company account. Use it on phone at site and on desktop in the office.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554480"/>
            <a:ext cx="5943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E3A5F"/>
                </a:solidFill>
                <a:latin typeface="Calibri"/>
              </a:rPr>
              <a:t>Ready for owners who run sites &amp; boards</a:t>
            </a:r>
          </a:p>
          <a:p>
            <a:pPr>
              <a:spcBef>
                <a:spcPts val="1200"/>
              </a:spcBef>
            </a:pPr>
            <a:r>
              <a:rPr sz="1500" b="0">
                <a:solidFill>
                  <a:srgbClr val="0F172A"/>
                </a:solidFill>
                <a:latin typeface="Calibri"/>
              </a:rPr>
              <a:t>✓  Approve estimates &amp; variations from anywhere</a:t>
            </a:r>
          </a:p>
          <a:p>
            <a:pPr>
              <a:spcBef>
                <a:spcPts val="1200"/>
              </a:spcBef>
            </a:pPr>
            <a:r>
              <a:rPr sz="1500" b="0">
                <a:solidFill>
                  <a:srgbClr val="0F172A"/>
                </a:solidFill>
                <a:latin typeface="Calibri"/>
              </a:rPr>
              <a:t>✓  See budgets and receivables on Owner Home</a:t>
            </a:r>
          </a:p>
          <a:p>
            <a:pPr>
              <a:spcBef>
                <a:spcPts val="1200"/>
              </a:spcBef>
            </a:pPr>
            <a:r>
              <a:rPr sz="1500" b="0">
                <a:solidFill>
                  <a:srgbClr val="0F172A"/>
                </a:solidFill>
                <a:latin typeface="Calibri"/>
              </a:rPr>
              <a:t>✓  Invite PM, site, store, QC, accounts in minutes</a:t>
            </a:r>
          </a:p>
          <a:p>
            <a:pPr>
              <a:spcBef>
                <a:spcPts val="1200"/>
              </a:spcBef>
            </a:pPr>
            <a:r>
              <a:rPr sz="1500" b="0">
                <a:solidFill>
                  <a:srgbClr val="0F172A"/>
                </a:solidFill>
                <a:latin typeface="Calibri"/>
              </a:rPr>
              <a:t>✓  Same live data on Android, iOS, and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59436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Screenshots: live Reddy Constructions demo  ·  BuildFlow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One product — three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Owners and teams use the same Construction ERP on phone and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6118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Calibri"/>
              </a:rPr>
              <a:t>Android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Calibri"/>
              </a:rPr>
              <a:t>Phone &amp; tablet at site, store, weighbridge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6118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Calibri"/>
              </a:rPr>
              <a:t>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Calibri"/>
              </a:rPr>
              <a:t>iPhone / iPad for PM &amp; Owner on the move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463040"/>
            <a:ext cx="36118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73736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Calibri"/>
              </a:rPr>
              <a:t>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317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Calibri"/>
              </a:rPr>
              <a:t>Desktop for estimates, accounting, approvals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40480"/>
            <a:ext cx="11155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E3A5F"/>
                </a:solidFill>
                <a:latin typeface="Calibri"/>
              </a:rPr>
              <a:t>How to open it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Calibri"/>
              </a:rPr>
              <a:t>•  Web: open your BuildFlow company URL in Chrome / Edge / Safari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Calibri"/>
              </a:rPr>
              <a:t>•  Android: install the BuildFlow app (or open the same URL in Chrome)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Calibri"/>
              </a:rPr>
              <a:t>•  iOS: install the BuildFlow app (or open the same URL in Safari / Add to Home Screen)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Calibri"/>
              </a:rPr>
              <a:t>•  Login is always email/mobile + OTP — no passwords to share on 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Construction ERP  ·  Android · iOS · Web  ·  Owner Quick-Start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105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What you will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Practical path so your company starts using BuildFlow this week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69748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Sign in (OTP)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63040"/>
            <a:ext cx="269748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8288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774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Owner Home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269748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774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Projects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63040"/>
            <a:ext cx="269748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8288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3774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Estimates → BOQ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66160"/>
            <a:ext cx="269748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805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Procurement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566160"/>
            <a:ext cx="269748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39319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4805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Accounting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566160"/>
            <a:ext cx="269748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9319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4805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Invite team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3566160"/>
            <a:ext cx="269748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393192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9E0B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48056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Day-1 checklist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Construction ERP  ·  Android · iOS · Web  ·  Owner Quick-Start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105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1. Sign in — email or mobile + OTP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Identical login on Android, iOS, and Web. Owners and field staff use the same secure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pic>
        <p:nvPicPr>
          <p:cNvPr id="7" name="Picture 6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iOS</a:t>
            </a:r>
          </a:p>
        </p:txBody>
      </p:sp>
      <p:pic>
        <p:nvPicPr>
          <p:cNvPr id="9" name="Picture 8" descr="01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1600"/>
            <a:ext cx="19659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4692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ANDROID</a:t>
            </a:r>
          </a:p>
        </p:txBody>
      </p:sp>
      <p:pic>
        <p:nvPicPr>
          <p:cNvPr id="11" name="Picture 10" descr="01-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371600"/>
            <a:ext cx="205740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Same account · same data  ·  Send OTP  ·  Enter 6-digit code  ·  Land on Owner Home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Construction ERP  ·  Android · iOS · Web  ·  Owner Quick-Start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105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2. Owner Home — company 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Active projects, receivables, progress, budget burn, team activity — on phone or desktop.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pic>
        <p:nvPicPr>
          <p:cNvPr id="7" name="Picture 6" descr="02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iOS</a:t>
            </a:r>
          </a:p>
        </p:txBody>
      </p:sp>
      <p:pic>
        <p:nvPicPr>
          <p:cNvPr id="9" name="Picture 8" descr="02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1600"/>
            <a:ext cx="19659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4692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ANDROID</a:t>
            </a:r>
          </a:p>
        </p:txBody>
      </p:sp>
      <p:pic>
        <p:nvPicPr>
          <p:cNvPr id="11" name="Picture 10" descr="02-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371600"/>
            <a:ext cx="205740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Same account · same data  ·  KPIs at a glance  ·  Quick actions  ·  Approve from anywhere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Construction ERP  ·  Android · iOS · Web  ·  Owner Quick-Start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105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3. Projects — your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Create jobs, set budgets, open any site. Desktop for planning; phone for quick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pic>
        <p:nvPicPr>
          <p:cNvPr id="7" name="Picture 6" descr="03-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iOS</a:t>
            </a:r>
          </a:p>
        </p:txBody>
      </p:sp>
      <p:pic>
        <p:nvPicPr>
          <p:cNvPr id="9" name="Picture 8" descr="03-proj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1600"/>
            <a:ext cx="19659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4692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ANDROID</a:t>
            </a:r>
          </a:p>
        </p:txBody>
      </p:sp>
      <p:pic>
        <p:nvPicPr>
          <p:cNvPr id="11" name="Picture 10" descr="03-proje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371600"/>
            <a:ext cx="205740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Same account · same data  ·  + New Project  ·  Filter Active / Planning  ·  Open NH-45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Construction ERP  ·  Android · iOS · Web  ·  Owner Quick-Start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105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4. Inside a project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Budget, committed spend, schedule health. Money stays Owner/PM visible.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pic>
        <p:nvPicPr>
          <p:cNvPr id="7" name="Picture 6" descr="10-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iOS</a:t>
            </a:r>
          </a:p>
        </p:txBody>
      </p:sp>
      <p:pic>
        <p:nvPicPr>
          <p:cNvPr id="9" name="Picture 8" descr="10-pro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1600"/>
            <a:ext cx="19659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4692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ANDROID</a:t>
            </a:r>
          </a:p>
        </p:txBody>
      </p:sp>
      <p:pic>
        <p:nvPicPr>
          <p:cNvPr id="11" name="Picture 10" descr="10-proj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371600"/>
            <a:ext cx="205740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Same account · same data  ·  Overview KPIs  ·  Tabs for BOQ &amp; more  ·  Setup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Construction ERP  ·  Android · iOS · Web  ·  Owner Quick-Start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105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5. Estimates → BOQ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Approve commercially on web; track quantities on site with the phone.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pic>
        <p:nvPicPr>
          <p:cNvPr id="7" name="Picture 6" descr="11-bo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iOS</a:t>
            </a:r>
          </a:p>
        </p:txBody>
      </p:sp>
      <p:pic>
        <p:nvPicPr>
          <p:cNvPr id="9" name="Picture 8" descr="11-bo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1600"/>
            <a:ext cx="19659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4692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ANDROID</a:t>
            </a:r>
          </a:p>
        </p:txBody>
      </p:sp>
      <p:pic>
        <p:nvPicPr>
          <p:cNvPr id="11" name="Picture 10" descr="11-bo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371600"/>
            <a:ext cx="205740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Same account · same data  ·  Owner approves estimate  ·  Convert to BOQ  ·  Site measures qty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Construction ERP  ·  Android · iOS · Web  ·  Owner Quick-Start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105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6. Procurement — indents, PO, GRN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PM/Store raise indents; weighbridge/store receive on mobile at the gate.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pic>
        <p:nvPicPr>
          <p:cNvPr id="7" name="Picture 6" descr="12-procur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iOS</a:t>
            </a:r>
          </a:p>
        </p:txBody>
      </p:sp>
      <p:pic>
        <p:nvPicPr>
          <p:cNvPr id="9" name="Picture 8" descr="12-procur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1600"/>
            <a:ext cx="19659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4692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ANDROID</a:t>
            </a:r>
          </a:p>
        </p:txBody>
      </p:sp>
      <p:pic>
        <p:nvPicPr>
          <p:cNvPr id="11" name="Picture 10" descr="12-procur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371600"/>
            <a:ext cx="205740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Same account · same data  ·  Indent from BOQ  ·  Approve PO  ·  GRN on 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Construction ERP  ·  Android · iOS · Web  ·  Owner Quick-Start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105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7. Variations — Owner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PM/DPM draft change orders; only Owner signs off cost &amp; schedule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pic>
        <p:nvPicPr>
          <p:cNvPr id="7" name="Picture 6" descr="13-vari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iOS</a:t>
            </a:r>
          </a:p>
        </p:txBody>
      </p:sp>
      <p:pic>
        <p:nvPicPr>
          <p:cNvPr id="9" name="Picture 8" descr="13-vari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1600"/>
            <a:ext cx="19659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4692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ANDROID</a:t>
            </a:r>
          </a:p>
        </p:txBody>
      </p:sp>
      <p:pic>
        <p:nvPicPr>
          <p:cNvPr id="11" name="Picture 10" descr="13-vari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371600"/>
            <a:ext cx="205740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Same account · same data  ·  Review impact  ·  Approve / reject  ·  Convert VO → BOQ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Construction ERP  ·  Android · iOS · Web  ·  Owner Quick-Start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105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8. Accounting — invoices &amp; bills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Desktop for finance ops; phone for quick status. Accountant can approve bills.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pic>
        <p:nvPicPr>
          <p:cNvPr id="7" name="Picture 6" descr="04-accou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iOS</a:t>
            </a:r>
          </a:p>
        </p:txBody>
      </p:sp>
      <p:pic>
        <p:nvPicPr>
          <p:cNvPr id="9" name="Picture 8" descr="04-accoun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1600"/>
            <a:ext cx="19659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4692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ANDROID</a:t>
            </a:r>
          </a:p>
        </p:txBody>
      </p:sp>
      <p:pic>
        <p:nvPicPr>
          <p:cNvPr id="11" name="Picture 10" descr="04-accoun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371600"/>
            <a:ext cx="205740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Same account · same data  ·  Invoices &amp; bills  ·  Record payments  ·  Tally / GST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Construction ERP  ·  Android · iOS · Web  ·  Owner Quick-Start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105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9. Planning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CPM-style planning on web; progress checks on mobile.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pic>
        <p:nvPicPr>
          <p:cNvPr id="7" name="Picture 6" descr="07-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iOS</a:t>
            </a:r>
          </a:p>
        </p:txBody>
      </p:sp>
      <p:pic>
        <p:nvPicPr>
          <p:cNvPr id="9" name="Picture 8" descr="07-plan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1600"/>
            <a:ext cx="19659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4692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ANDROID</a:t>
            </a:r>
          </a:p>
        </p:txBody>
      </p:sp>
      <p:pic>
        <p:nvPicPr>
          <p:cNvPr id="11" name="Picture 10" descr="07-plan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371600"/>
            <a:ext cx="205740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Same account · same data  ·  Tasks &amp; schedule  ·  Progress %  ·  Overdue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Construction ERP  ·  Android · iOS · Web  ·  Owner Quick-Start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105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10. Reports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Board packs and PDF downloads — best on web; share links from phone.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pic>
        <p:nvPicPr>
          <p:cNvPr id="7" name="Picture 6" descr="05-reports-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iOS</a:t>
            </a:r>
          </a:p>
        </p:txBody>
      </p:sp>
      <p:pic>
        <p:nvPicPr>
          <p:cNvPr id="9" name="Picture 8" descr="05-reports-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1600"/>
            <a:ext cx="19659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4692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ANDROID</a:t>
            </a:r>
          </a:p>
        </p:txBody>
      </p:sp>
      <p:pic>
        <p:nvPicPr>
          <p:cNvPr id="11" name="Picture 10" descr="05-reports-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371600"/>
            <a:ext cx="205740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Same account · same data  ·  Progress PDFs  ·  P&amp;L / EVA  ·  GST &amp; TDS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Construction ERP  ·  Android · iOS · Web  ·  Owner Quick-Start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105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11. Invite your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Settings → Users on web (recommended). Roles: PM, Site, Store, QC, Accountant…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pic>
        <p:nvPicPr>
          <p:cNvPr id="7" name="Picture 6" descr="09-settings-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iOS</a:t>
            </a:r>
          </a:p>
        </p:txBody>
      </p:sp>
      <p:pic>
        <p:nvPicPr>
          <p:cNvPr id="9" name="Picture 8" descr="09-settings-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1600"/>
            <a:ext cx="196596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46920" y="1051560"/>
            <a:ext cx="1234440" cy="256032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ANDROID</a:t>
            </a:r>
          </a:p>
        </p:txBody>
      </p:sp>
      <p:pic>
        <p:nvPicPr>
          <p:cNvPr id="11" name="Picture 10" descr="09-settings-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371600"/>
            <a:ext cx="2057400" cy="416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6692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Calibri"/>
              </a:rPr>
              <a:t>Same account · same data  ·  Invite by email/phone  ·  Pick role  ·  OTP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Construction ERP  ·  Android · iOS · Web  ·  Owner Quick-Start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105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Who does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Share with leadership — works the same on every device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09728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  <a:latin typeface="Calibri"/>
              </a:rPr>
              <a:t>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5087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Approve estimates &amp; VOs · finance · invite users · settings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471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109728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  <a:latin typeface="Calibri"/>
              </a:rPr>
              <a:t>PM / DPM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231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Run projects · estimates · procurement · draft variations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112471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109728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918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  <a:latin typeface="Calibri"/>
              </a:rPr>
              <a:t>Site / QC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3375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Daily reports · measure · drawings · snags (no money)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112471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109728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  <a:latin typeface="Calibri"/>
              </a:rPr>
              <a:t>Store / Weighbridge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2519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Indents · GRN · stock on phone at gate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112471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937760"/>
            <a:ext cx="109728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3A5F"/>
                </a:solidFill>
                <a:latin typeface="Calibri"/>
              </a:rPr>
              <a:t>Accountant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1663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Invoices · bills · payments · Tally / GST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Construction ERP  ·  Android · iOS · Web  ·  Owner Quick-Start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105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E3A5F"/>
                </a:solidFill>
                <a:latin typeface="Calibri"/>
              </a:rPr>
              <a:t>Day-1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Use phone + web together — start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3212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 b="1">
                <a:solidFill>
                  <a:srgbClr val="1E3A5F"/>
                </a:solidFill>
                <a:latin typeface="Calibri"/>
              </a:rPr>
              <a:t>Morning (Web or iPad)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•  Sign in as Owner (OTP)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•  Review Owner Home KPIs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•  Create / open your real project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•  Set budget, client, dates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•  Invite PM + Site + Accountant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•  Optional: walk NH-45 sample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3212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/>
          <a:lstStyle/>
          <a:p>
            <a:pPr algn="ctr"/>
            <a:r>
              <a:rPr sz="1400" b="1">
                <a:solidFill>
                  <a:srgbClr val="1E3A5F"/>
                </a:solidFill>
                <a:latin typeface="Calibri"/>
              </a:rPr>
              <a:t>Afternoon (Phone + Web)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•  PM drafts first estimate (Web)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•  You approve on phone or desktop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•  Convert to BOQ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•  First indent → GRN on Android/iOS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•  First vendor bill → Accountant</a:t>
            </a:r>
          </a:p>
          <a:p>
            <a:pPr>
              <a:spcBef>
                <a:spcPts val="700"/>
              </a:spcBef>
            </a:pPr>
            <a:r>
              <a:rPr sz="1200" b="0">
                <a:solidFill>
                  <a:srgbClr val="0F172A"/>
                </a:solidFill>
                <a:latin typeface="Calibri"/>
              </a:rPr>
              <a:t>•  Download one PDF from Reports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Construction ERP  ·  Android · iOS · Web  ·  Owner Quick-Start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uildflow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09728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28600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Android · iOS · Web — you’re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03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BD5E1"/>
                </a:solidFill>
                <a:latin typeface="Calibri"/>
              </a:rPr>
              <a:t>Owner approves. PM delivers. Site executes. Store receives. Accounts closes the books — one BuildFlow company everywhere.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84632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9E0B"/>
                </a:solidFill>
                <a:latin typeface="Calibri"/>
              </a:rPr>
              <a:t>Install on phones this week. Run the first live estimate → BOQ → indent cycle on one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